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Roboto Black" panose="02000000000000000000" pitchFamily="2" charset="0"/>
      <p:bold r:id="rId21"/>
      <p:boldItalic r:id="rId22"/>
    </p:embeddedFont>
    <p:embeddedFont>
      <p:font typeface="Roboto Light" panose="02000000000000000000" pitchFamily="2" charset="0"/>
      <p:regular r:id="rId23"/>
      <p:bold r:id="rId24"/>
      <p:italic r:id="rId25"/>
      <p:boldItalic r:id="rId26"/>
    </p:embeddedFont>
    <p:embeddedFont>
      <p:font typeface="Roboto Mono" panose="00000009000000000000" pitchFamily="49" charset="0"/>
      <p:regular r:id="rId27"/>
      <p:bold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ee458a07e_0_336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ee458a07e_0_477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ee458a07e_0_630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ee458a07e_0_767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ee458a07e_0_900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ee458a07e_0_1035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ee458a07e_0_2023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ee458a07e_0_2047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ee458a07e_0_1166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ee458a07e_0_2092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ee458a07e_0_1290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ee458a07e_0_1414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ee458a07e_0_1729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ee458a07e_0_1847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dee458a07e_15_0)">
  <p:cSld name="Generated (g3dee458a07e_15_0)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 descr="A sophisticated, high-tech background for a software engineering presentation. Abstract dark blue and charcoal grey tones with subtle glowing lines of code, digital nodes, and geometric grid patterns. Clean, professional, and minimalist aesthetic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571500" y="1428750"/>
            <a:ext cx="8001000" cy="2238525"/>
            <a:chOff x="0" y="-285750"/>
            <a:chExt cx="8001000" cy="2238525"/>
          </a:xfrm>
        </p:grpSpPr>
        <p:sp>
          <p:nvSpPr>
            <p:cNvPr id="57" name="Google Shape;57;p14"/>
            <p:cNvSpPr/>
            <p:nvPr/>
          </p:nvSpPr>
          <p:spPr>
            <a:xfrm>
              <a:off x="0" y="-285750"/>
              <a:ext cx="952500" cy="38100"/>
            </a:xfrm>
            <a:prstGeom prst="rect">
              <a:avLst/>
            </a:prstGeom>
            <a:solidFill>
              <a:srgbClr val="DD003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0" y="-1428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&lt;ANGULAR /&gt;</a:t>
              </a:r>
              <a:endParaRPr sz="12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59" name="Google Shape;59;p14"/>
            <p:cNvSpPr txBox="1"/>
            <p:nvPr/>
          </p:nvSpPr>
          <p:spPr>
            <a:xfrm>
              <a:off x="0" y="190500"/>
              <a:ext cx="8001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4080" b="0">
                  <a:solidFill>
                    <a:srgbClr val="FFFFFF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Forms in Angular: Template-Driven vs. Reactive</a:t>
              </a:r>
              <a:endParaRPr sz="408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0" y="1476375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 b="0">
                  <a:solidFill>
                    <a:srgbClr val="DDDDDD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Mastering User Input and Data Collection</a:t>
              </a:r>
              <a:endParaRPr sz="2200" b="0">
                <a:solidFill>
                  <a:srgbClr val="DDDDDD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pic>
        <p:nvPicPr>
          <p:cNvPr id="61" name="Google Shape;61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714750"/>
            <a:ext cx="1428900" cy="1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0" y="0"/>
            <a:ext cx="1428900" cy="14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572000" y="3667275"/>
            <a:ext cx="4340400" cy="12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2"/>
            <a:r>
              <a:rPr lang="en-GB" sz="1800" dirty="0">
                <a:solidFill>
                  <a:schemeClr val="dk2"/>
                </a:solidFill>
              </a:rPr>
              <a:t>Team Members : Rithika G</a:t>
            </a:r>
            <a:br>
              <a:rPr lang="en-GB" sz="1800" dirty="0">
                <a:solidFill>
                  <a:schemeClr val="dk2"/>
                </a:solidFill>
              </a:rPr>
            </a:br>
            <a:r>
              <a:rPr lang="en-GB" sz="1800" dirty="0">
                <a:solidFill>
                  <a:schemeClr val="dk2"/>
                </a:solidFill>
              </a:rPr>
              <a:t>	           Srujan P </a:t>
            </a:r>
          </a:p>
          <a:p>
            <a:pPr lvl="2"/>
            <a:r>
              <a:rPr lang="en-GB" sz="1800" dirty="0">
                <a:solidFill>
                  <a:schemeClr val="dk2"/>
                </a:solidFill>
              </a:rPr>
              <a:t>	           Sangeetha S</a:t>
            </a:r>
          </a:p>
          <a:p>
            <a:pPr lvl="2"/>
            <a:r>
              <a:rPr lang="en-GB" sz="1800" dirty="0">
                <a:solidFill>
                  <a:schemeClr val="dk2"/>
                </a:solidFill>
              </a:rPr>
              <a:t>	           Harshiya Saxena</a:t>
            </a:r>
          </a:p>
          <a:p>
            <a:pPr lvl="2"/>
            <a:r>
              <a:rPr lang="en-GB" sz="1800" dirty="0">
                <a:solidFill>
                  <a:schemeClr val="dk2"/>
                </a:solidFill>
              </a:rPr>
              <a:t>	           Arshdeep S Virdi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571500" y="71437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&lt;AGENDA /&gt;</a:t>
            </a:r>
            <a:endParaRPr sz="1200" b="1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571500" y="1047750"/>
            <a:ext cx="5715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Session Overview</a:t>
            </a:r>
            <a:endParaRPr sz="3600" b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71" name="Google Shape;71;p15"/>
          <p:cNvGrpSpPr/>
          <p:nvPr/>
        </p:nvGrpSpPr>
        <p:grpSpPr>
          <a:xfrm>
            <a:off x="571500" y="1905000"/>
            <a:ext cx="3810000" cy="428700"/>
            <a:chOff x="571500" y="1905000"/>
            <a:chExt cx="3810000" cy="428700"/>
          </a:xfrm>
        </p:grpSpPr>
        <p:sp>
          <p:nvSpPr>
            <p:cNvPr id="72" name="Google Shape;72;p15"/>
            <p:cNvSpPr/>
            <p:nvPr/>
          </p:nvSpPr>
          <p:spPr>
            <a:xfrm>
              <a:off x="571500" y="1905000"/>
              <a:ext cx="3810000" cy="428700"/>
            </a:xfrm>
            <a:prstGeom prst="roundRect">
              <a:avLst>
                <a:gd name="adj" fmla="val 888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762000" y="1905000"/>
              <a:ext cx="38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sz="14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1238250" y="1905000"/>
              <a:ext cx="2952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Why Forms Matter</a:t>
              </a:r>
              <a:endParaRPr sz="18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571500" y="2428875"/>
            <a:ext cx="3810000" cy="428700"/>
            <a:chOff x="571500" y="2428875"/>
            <a:chExt cx="3810000" cy="428700"/>
          </a:xfrm>
        </p:grpSpPr>
        <p:sp>
          <p:nvSpPr>
            <p:cNvPr id="76" name="Google Shape;76;p15"/>
            <p:cNvSpPr/>
            <p:nvPr/>
          </p:nvSpPr>
          <p:spPr>
            <a:xfrm>
              <a:off x="571500" y="2428875"/>
              <a:ext cx="3810000" cy="428700"/>
            </a:xfrm>
            <a:prstGeom prst="roundRect">
              <a:avLst>
                <a:gd name="adj" fmla="val 888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762000" y="2428875"/>
              <a:ext cx="38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sz="14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1238250" y="2428875"/>
              <a:ext cx="2952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Template-Driven Forms</a:t>
              </a:r>
              <a:endParaRPr sz="18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" name="Google Shape;79;p15"/>
          <p:cNvGrpSpPr/>
          <p:nvPr/>
        </p:nvGrpSpPr>
        <p:grpSpPr>
          <a:xfrm>
            <a:off x="571500" y="2952750"/>
            <a:ext cx="3810000" cy="428700"/>
            <a:chOff x="571500" y="2952750"/>
            <a:chExt cx="3810000" cy="428700"/>
          </a:xfrm>
        </p:grpSpPr>
        <p:sp>
          <p:nvSpPr>
            <p:cNvPr id="80" name="Google Shape;80;p15"/>
            <p:cNvSpPr/>
            <p:nvPr/>
          </p:nvSpPr>
          <p:spPr>
            <a:xfrm>
              <a:off x="571500" y="2952750"/>
              <a:ext cx="3810000" cy="428700"/>
            </a:xfrm>
            <a:prstGeom prst="roundRect">
              <a:avLst>
                <a:gd name="adj" fmla="val 888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762000" y="2952750"/>
              <a:ext cx="38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sz="14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1238250" y="2952750"/>
              <a:ext cx="2952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Reactive Forms</a:t>
              </a:r>
              <a:endParaRPr sz="18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" name="Google Shape;83;p15"/>
          <p:cNvGrpSpPr/>
          <p:nvPr/>
        </p:nvGrpSpPr>
        <p:grpSpPr>
          <a:xfrm>
            <a:off x="571500" y="3476625"/>
            <a:ext cx="3810000" cy="428700"/>
            <a:chOff x="571500" y="3476625"/>
            <a:chExt cx="3810000" cy="428700"/>
          </a:xfrm>
        </p:grpSpPr>
        <p:sp>
          <p:nvSpPr>
            <p:cNvPr id="84" name="Google Shape;84;p15"/>
            <p:cNvSpPr/>
            <p:nvPr/>
          </p:nvSpPr>
          <p:spPr>
            <a:xfrm>
              <a:off x="571500" y="3476625"/>
              <a:ext cx="3810000" cy="428700"/>
            </a:xfrm>
            <a:prstGeom prst="roundRect">
              <a:avLst>
                <a:gd name="adj" fmla="val 888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762000" y="3476625"/>
              <a:ext cx="38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sz="14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1238250" y="3476625"/>
              <a:ext cx="2952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Comparison</a:t>
              </a:r>
              <a:endParaRPr sz="18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4762500" y="1905000"/>
            <a:ext cx="3810000" cy="428700"/>
            <a:chOff x="4762500" y="1905000"/>
            <a:chExt cx="3810000" cy="428700"/>
          </a:xfrm>
        </p:grpSpPr>
        <p:sp>
          <p:nvSpPr>
            <p:cNvPr id="88" name="Google Shape;88;p15"/>
            <p:cNvSpPr/>
            <p:nvPr/>
          </p:nvSpPr>
          <p:spPr>
            <a:xfrm>
              <a:off x="4762500" y="1905000"/>
              <a:ext cx="3810000" cy="428700"/>
            </a:xfrm>
            <a:prstGeom prst="roundRect">
              <a:avLst>
                <a:gd name="adj" fmla="val 888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4953000" y="1905000"/>
              <a:ext cx="38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05</a:t>
              </a:r>
              <a:endParaRPr sz="14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0" name="Google Shape;90;p15"/>
            <p:cNvSpPr txBox="1"/>
            <p:nvPr/>
          </p:nvSpPr>
          <p:spPr>
            <a:xfrm>
              <a:off x="5429250" y="1905000"/>
              <a:ext cx="2952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Validation</a:t>
              </a:r>
              <a:endParaRPr sz="18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1" name="Google Shape;91;p15"/>
          <p:cNvGrpSpPr/>
          <p:nvPr/>
        </p:nvGrpSpPr>
        <p:grpSpPr>
          <a:xfrm>
            <a:off x="4762500" y="2428875"/>
            <a:ext cx="3810000" cy="428700"/>
            <a:chOff x="4762500" y="2428875"/>
            <a:chExt cx="3810000" cy="428700"/>
          </a:xfrm>
        </p:grpSpPr>
        <p:sp>
          <p:nvSpPr>
            <p:cNvPr id="92" name="Google Shape;92;p15"/>
            <p:cNvSpPr/>
            <p:nvPr/>
          </p:nvSpPr>
          <p:spPr>
            <a:xfrm>
              <a:off x="4762500" y="2428875"/>
              <a:ext cx="3810000" cy="428700"/>
            </a:xfrm>
            <a:prstGeom prst="roundRect">
              <a:avLst>
                <a:gd name="adj" fmla="val 888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4953000" y="2428875"/>
              <a:ext cx="38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06</a:t>
              </a:r>
              <a:endParaRPr sz="14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5429250" y="2428875"/>
              <a:ext cx="2952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Use Cases</a:t>
              </a:r>
              <a:endParaRPr sz="18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5" name="Google Shape;95;p15"/>
          <p:cNvGrpSpPr/>
          <p:nvPr/>
        </p:nvGrpSpPr>
        <p:grpSpPr>
          <a:xfrm>
            <a:off x="4762500" y="2952750"/>
            <a:ext cx="3810000" cy="428700"/>
            <a:chOff x="4762500" y="2952750"/>
            <a:chExt cx="3810000" cy="428700"/>
          </a:xfrm>
        </p:grpSpPr>
        <p:sp>
          <p:nvSpPr>
            <p:cNvPr id="96" name="Google Shape;96;p15"/>
            <p:cNvSpPr/>
            <p:nvPr/>
          </p:nvSpPr>
          <p:spPr>
            <a:xfrm>
              <a:off x="4762500" y="2952750"/>
              <a:ext cx="3810000" cy="428700"/>
            </a:xfrm>
            <a:prstGeom prst="roundRect">
              <a:avLst>
                <a:gd name="adj" fmla="val 888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4953000" y="2952750"/>
              <a:ext cx="38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07</a:t>
              </a:r>
              <a:endParaRPr sz="14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5429250" y="2952750"/>
              <a:ext cx="2952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Summary</a:t>
              </a:r>
              <a:endParaRPr sz="18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99" name="Google Shape;9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0" y="0"/>
            <a:ext cx="1428900" cy="14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 rotWithShape="1">
          <a:blip r:embed="rId5">
            <a:alphaModFix/>
          </a:blip>
          <a:srcRect l="10000" r="10000"/>
          <a:stretch/>
        </p:blipFill>
        <p:spPr>
          <a:xfrm>
            <a:off x="571500" y="476250"/>
            <a:ext cx="76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571500" y="571500"/>
            <a:ext cx="1905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/&gt;</a:t>
            </a:r>
            <a:endParaRPr sz="1100" b="1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571500" y="85725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Why Forms Matter</a:t>
            </a:r>
            <a:endParaRPr sz="4200" b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107" name="Google Shape;107;p16"/>
          <p:cNvGrpSpPr/>
          <p:nvPr/>
        </p:nvGrpSpPr>
        <p:grpSpPr>
          <a:xfrm>
            <a:off x="566738" y="1804988"/>
            <a:ext cx="2581200" cy="2676600"/>
            <a:chOff x="566738" y="1804988"/>
            <a:chExt cx="2581200" cy="2676600"/>
          </a:xfrm>
        </p:grpSpPr>
        <p:pic>
          <p:nvPicPr>
            <p:cNvPr id="108" name="Google Shape;108;p1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66738" y="1804988"/>
              <a:ext cx="2581200" cy="26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16"/>
            <p:cNvSpPr txBox="1"/>
            <p:nvPr/>
          </p:nvSpPr>
          <p:spPr>
            <a:xfrm>
              <a:off x="571500" y="1809750"/>
              <a:ext cx="2571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0" tIns="285750" rIns="285750" bIns="285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440" dirty="0">
                <a:solidFill>
                  <a:srgbClr val="DD003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GB" sz="1665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Collection</a:t>
              </a:r>
              <a:endParaRPr sz="1665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203" b="0" dirty="0">
                  <a:solidFill>
                    <a:srgbClr val="BBBBBB"/>
                  </a:solidFill>
                  <a:latin typeface="Roboto"/>
                  <a:ea typeface="Roboto"/>
                  <a:cs typeface="Roboto"/>
                  <a:sym typeface="Roboto"/>
                </a:rPr>
                <a:t>The primary mechanism to collect user data and facilitate input for web applications.</a:t>
              </a:r>
              <a:endParaRPr sz="1203" b="0" dirty="0">
                <a:solidFill>
                  <a:srgbClr val="BBBBB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3281363" y="1804988"/>
            <a:ext cx="2581200" cy="2676600"/>
            <a:chOff x="3281363" y="1804988"/>
            <a:chExt cx="2581200" cy="2676600"/>
          </a:xfrm>
        </p:grpSpPr>
        <p:pic>
          <p:nvPicPr>
            <p:cNvPr id="111" name="Google Shape;111;p1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281363" y="1804988"/>
              <a:ext cx="2581200" cy="26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6"/>
            <p:cNvSpPr txBox="1"/>
            <p:nvPr/>
          </p:nvSpPr>
          <p:spPr>
            <a:xfrm>
              <a:off x="3286125" y="1809750"/>
              <a:ext cx="2571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0" tIns="285750" rIns="285750" bIns="285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440" dirty="0">
                <a:solidFill>
                  <a:srgbClr val="DD003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GB" sz="1665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CRUD &amp; Auth</a:t>
              </a:r>
              <a:endParaRPr sz="1665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203" b="0" dirty="0">
                  <a:solidFill>
                    <a:srgbClr val="BBBBBB"/>
                  </a:solidFill>
                  <a:latin typeface="Roboto"/>
                  <a:ea typeface="Roboto"/>
                  <a:cs typeface="Roboto"/>
                  <a:sym typeface="Roboto"/>
                </a:rPr>
                <a:t>Essential for authentication and all CRUD operations that modify server state.</a:t>
              </a:r>
              <a:endParaRPr sz="1203" b="0" dirty="0">
                <a:solidFill>
                  <a:srgbClr val="BBBBB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5995988" y="1804988"/>
            <a:ext cx="2581200" cy="2676600"/>
            <a:chOff x="5995988" y="1804988"/>
            <a:chExt cx="2581200" cy="2676600"/>
          </a:xfrm>
        </p:grpSpPr>
        <p:pic>
          <p:nvPicPr>
            <p:cNvPr id="114" name="Google Shape;114;p1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995988" y="1804988"/>
              <a:ext cx="2581200" cy="26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16"/>
            <p:cNvSpPr txBox="1"/>
            <p:nvPr/>
          </p:nvSpPr>
          <p:spPr>
            <a:xfrm>
              <a:off x="6000750" y="1809750"/>
              <a:ext cx="2571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0" tIns="285750" rIns="285750" bIns="285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 dirty="0">
                <a:solidFill>
                  <a:srgbClr val="DD003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GB" sz="18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User-Logic Bridge</a:t>
              </a:r>
              <a:endParaRPr sz="18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300" b="0" dirty="0">
                  <a:solidFill>
                    <a:srgbClr val="BBBBBB"/>
                  </a:solidFill>
                  <a:latin typeface="Roboto"/>
                  <a:ea typeface="Roboto"/>
                  <a:cs typeface="Roboto"/>
                  <a:sym typeface="Roboto"/>
                </a:rPr>
                <a:t>The critical bridge between user intent and complex backend business logic.</a:t>
              </a:r>
              <a:endParaRPr sz="1300" b="0" dirty="0">
                <a:solidFill>
                  <a:srgbClr val="BBBBB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4CB10BC4-BACA-28EC-6315-DD2EB9A492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00138" y="2014538"/>
            <a:ext cx="914400" cy="914400"/>
          </a:xfrm>
          <a:prstGeom prst="rect">
            <a:avLst/>
          </a:prstGeom>
        </p:spPr>
      </p:pic>
      <p:pic>
        <p:nvPicPr>
          <p:cNvPr id="5" name="Graphic 4" descr="Key with solid fill">
            <a:extLst>
              <a:ext uri="{FF2B5EF4-FFF2-40B4-BE49-F238E27FC236}">
                <a16:creationId xmlns:a16="http://schemas.microsoft.com/office/drawing/2014/main" id="{3058F9A7-E99D-C850-3F77-DEBA505C919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4800" y="2114550"/>
            <a:ext cx="914400" cy="914400"/>
          </a:xfrm>
          <a:prstGeom prst="rect">
            <a:avLst/>
          </a:prstGeom>
        </p:spPr>
      </p:pic>
      <p:pic>
        <p:nvPicPr>
          <p:cNvPr id="7" name="Graphic 6" descr="Transfer with solid fill">
            <a:extLst>
              <a:ext uri="{FF2B5EF4-FFF2-40B4-BE49-F238E27FC236}">
                <a16:creationId xmlns:a16="http://schemas.microsoft.com/office/drawing/2014/main" id="{F97D1F7D-EB67-1726-A4D4-0275C0E9C49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29388" y="2014538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571500" y="714375"/>
            <a:ext cx="23814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TEMPLATE&gt;</a:t>
            </a:r>
            <a:endParaRPr sz="1200" b="1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571500" y="1047750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Template-Driven Forms</a:t>
            </a:r>
            <a:endParaRPr sz="3600" b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123" name="Google Shape;123;p17"/>
          <p:cNvGrpSpPr/>
          <p:nvPr/>
        </p:nvGrpSpPr>
        <p:grpSpPr>
          <a:xfrm>
            <a:off x="571500" y="1905000"/>
            <a:ext cx="3810000" cy="809700"/>
            <a:chOff x="571500" y="1905000"/>
            <a:chExt cx="3810000" cy="809700"/>
          </a:xfrm>
        </p:grpSpPr>
        <p:sp>
          <p:nvSpPr>
            <p:cNvPr id="124" name="Google Shape;124;p17"/>
            <p:cNvSpPr/>
            <p:nvPr/>
          </p:nvSpPr>
          <p:spPr>
            <a:xfrm>
              <a:off x="571500" y="1905000"/>
              <a:ext cx="3810000" cy="809700"/>
            </a:xfrm>
            <a:prstGeom prst="roundRect">
              <a:avLst>
                <a:gd name="adj" fmla="val 4705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762000" y="1905000"/>
              <a:ext cx="381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sz="14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6" name="Google Shape;126;p17"/>
            <p:cNvSpPr txBox="1"/>
            <p:nvPr/>
          </p:nvSpPr>
          <p:spPr>
            <a:xfrm>
              <a:off x="1238250" y="1905000"/>
              <a:ext cx="295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3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Directives-based</a:t>
              </a:r>
              <a:br>
                <a:rPr lang="en-GB" sz="1275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GB" sz="1275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Heavy reliance on the HTML template using built-in directives.</a:t>
              </a:r>
              <a:endParaRPr sz="1275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7" name="Google Shape;127;p17"/>
          <p:cNvGrpSpPr/>
          <p:nvPr/>
        </p:nvGrpSpPr>
        <p:grpSpPr>
          <a:xfrm>
            <a:off x="571500" y="2857500"/>
            <a:ext cx="3810000" cy="809700"/>
            <a:chOff x="571500" y="2857500"/>
            <a:chExt cx="3810000" cy="809700"/>
          </a:xfrm>
        </p:grpSpPr>
        <p:sp>
          <p:nvSpPr>
            <p:cNvPr id="128" name="Google Shape;128;p17"/>
            <p:cNvSpPr/>
            <p:nvPr/>
          </p:nvSpPr>
          <p:spPr>
            <a:xfrm>
              <a:off x="571500" y="2857500"/>
              <a:ext cx="3810000" cy="809700"/>
            </a:xfrm>
            <a:prstGeom prst="roundRect">
              <a:avLst>
                <a:gd name="adj" fmla="val 4705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762000" y="2857500"/>
              <a:ext cx="381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sz="14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1238250" y="2857500"/>
              <a:ext cx="295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3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Two-Way Binding</a:t>
              </a:r>
              <a:br>
                <a:rPr lang="en-GB" sz="1275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GB" sz="1275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Uses [(ngModel)] to synchronize data between view and model.</a:t>
              </a:r>
              <a:endParaRPr sz="1275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" name="Google Shape;131;p17"/>
          <p:cNvGrpSpPr/>
          <p:nvPr/>
        </p:nvGrpSpPr>
        <p:grpSpPr>
          <a:xfrm>
            <a:off x="4762500" y="1905000"/>
            <a:ext cx="3810000" cy="809700"/>
            <a:chOff x="4762500" y="1905000"/>
            <a:chExt cx="3810000" cy="809700"/>
          </a:xfrm>
        </p:grpSpPr>
        <p:sp>
          <p:nvSpPr>
            <p:cNvPr id="132" name="Google Shape;132;p17"/>
            <p:cNvSpPr/>
            <p:nvPr/>
          </p:nvSpPr>
          <p:spPr>
            <a:xfrm>
              <a:off x="4762500" y="1905000"/>
              <a:ext cx="3810000" cy="809700"/>
            </a:xfrm>
            <a:prstGeom prst="roundRect">
              <a:avLst>
                <a:gd name="adj" fmla="val 4705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7"/>
            <p:cNvSpPr txBox="1"/>
            <p:nvPr/>
          </p:nvSpPr>
          <p:spPr>
            <a:xfrm>
              <a:off x="4953000" y="1905000"/>
              <a:ext cx="381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sz="14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5429250" y="1905000"/>
              <a:ext cx="295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3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Asynchronous Nature</a:t>
              </a:r>
              <a:br>
                <a:rPr lang="en-GB" sz="1275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GB" sz="1275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Angular handles the form control creation and updates asynchronously.</a:t>
              </a:r>
              <a:endParaRPr sz="1275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5" name="Google Shape;135;p17"/>
          <p:cNvGrpSpPr/>
          <p:nvPr/>
        </p:nvGrpSpPr>
        <p:grpSpPr>
          <a:xfrm>
            <a:off x="4762500" y="2857500"/>
            <a:ext cx="3810000" cy="809700"/>
            <a:chOff x="4762500" y="2857500"/>
            <a:chExt cx="3810000" cy="809700"/>
          </a:xfrm>
        </p:grpSpPr>
        <p:sp>
          <p:nvSpPr>
            <p:cNvPr id="136" name="Google Shape;136;p17"/>
            <p:cNvSpPr/>
            <p:nvPr/>
          </p:nvSpPr>
          <p:spPr>
            <a:xfrm>
              <a:off x="4762500" y="2857500"/>
              <a:ext cx="3810000" cy="809700"/>
            </a:xfrm>
            <a:prstGeom prst="roundRect">
              <a:avLst>
                <a:gd name="adj" fmla="val 4705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4953000" y="2857500"/>
              <a:ext cx="381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sz="14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8" name="Google Shape;138;p17"/>
            <p:cNvSpPr txBox="1"/>
            <p:nvPr/>
          </p:nvSpPr>
          <p:spPr>
            <a:xfrm>
              <a:off x="5429250" y="2857500"/>
              <a:ext cx="295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3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Simplicity First</a:t>
              </a:r>
              <a:br>
                <a:rPr lang="en-GB" sz="1275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GB" sz="1275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Best suited for simple use cases and basic data collection forms.</a:t>
              </a:r>
              <a:endParaRPr sz="1275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7143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REACTIVE&gt;</a:t>
            </a:r>
            <a:endParaRPr sz="1200" b="1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1047750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Reactive Forms</a:t>
            </a:r>
            <a:endParaRPr sz="3600" b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147" name="Google Shape;147;p18"/>
          <p:cNvGrpSpPr/>
          <p:nvPr/>
        </p:nvGrpSpPr>
        <p:grpSpPr>
          <a:xfrm>
            <a:off x="571500" y="1905000"/>
            <a:ext cx="3905400" cy="952500"/>
            <a:chOff x="571500" y="1905000"/>
            <a:chExt cx="3905400" cy="952500"/>
          </a:xfrm>
        </p:grpSpPr>
        <p:sp>
          <p:nvSpPr>
            <p:cNvPr id="148" name="Google Shape;148;p18"/>
            <p:cNvSpPr/>
            <p:nvPr/>
          </p:nvSpPr>
          <p:spPr>
            <a:xfrm>
              <a:off x="571500" y="1905000"/>
              <a:ext cx="3905400" cy="9525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762000" y="1905000"/>
              <a:ext cx="38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sz="14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1238250" y="19050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Model-driven Approach</a:t>
              </a:r>
              <a:endParaRPr sz="15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2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The form structure is defined programmatically in the TypeScript component class.</a:t>
              </a:r>
              <a:endParaRPr sz="12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1" name="Google Shape;151;p18"/>
          <p:cNvGrpSpPr/>
          <p:nvPr/>
        </p:nvGrpSpPr>
        <p:grpSpPr>
          <a:xfrm>
            <a:off x="571500" y="3000375"/>
            <a:ext cx="3905400" cy="952500"/>
            <a:chOff x="571500" y="3000375"/>
            <a:chExt cx="3905400" cy="952500"/>
          </a:xfrm>
        </p:grpSpPr>
        <p:sp>
          <p:nvSpPr>
            <p:cNvPr id="152" name="Google Shape;152;p18"/>
            <p:cNvSpPr/>
            <p:nvPr/>
          </p:nvSpPr>
          <p:spPr>
            <a:xfrm>
              <a:off x="571500" y="3000375"/>
              <a:ext cx="3905400" cy="9525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762000" y="3000375"/>
              <a:ext cx="38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sz="14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1238250" y="3000375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Synchronous Data Flow</a:t>
              </a:r>
              <a:endParaRPr sz="15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2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Provides immediate access to form data and status, making it highly testable and reliable.</a:t>
              </a:r>
              <a:endParaRPr sz="12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5" name="Google Shape;155;p18"/>
          <p:cNvGrpSpPr/>
          <p:nvPr/>
        </p:nvGrpSpPr>
        <p:grpSpPr>
          <a:xfrm>
            <a:off x="4667250" y="1905000"/>
            <a:ext cx="3905400" cy="2047800"/>
            <a:chOff x="4667250" y="1905000"/>
            <a:chExt cx="3905400" cy="2047800"/>
          </a:xfrm>
        </p:grpSpPr>
        <p:sp>
          <p:nvSpPr>
            <p:cNvPr id="156" name="Google Shape;156;p18"/>
            <p:cNvSpPr/>
            <p:nvPr/>
          </p:nvSpPr>
          <p:spPr>
            <a:xfrm>
              <a:off x="4667250" y="1905000"/>
              <a:ext cx="3905400" cy="2047800"/>
            </a:xfrm>
            <a:prstGeom prst="roundRect">
              <a:avLst>
                <a:gd name="adj" fmla="val 1860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4857750" y="2047875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Core Building Blocks</a:t>
              </a:r>
              <a:endParaRPr sz="15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4857750" y="2428875"/>
              <a:ext cx="35244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DD0031"/>
                  </a:solidFill>
                  <a:latin typeface="Roboto"/>
                  <a:ea typeface="Roboto"/>
                  <a:cs typeface="Roboto"/>
                  <a:sym typeface="Roboto"/>
                </a:rPr>
                <a:t>FormControl:</a:t>
              </a:r>
              <a:r>
                <a:rPr lang="en-GB" sz="12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 Tracks value and validation status of an individual field.</a:t>
              </a:r>
              <a:endParaRPr sz="12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DD0031"/>
                  </a:solidFill>
                  <a:latin typeface="Roboto"/>
                  <a:ea typeface="Roboto"/>
                  <a:cs typeface="Roboto"/>
                  <a:sym typeface="Roboto"/>
                </a:rPr>
                <a:t>FormGroup:</a:t>
              </a:r>
              <a:r>
                <a:rPr lang="en-GB" sz="12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 Manages a group of controls as a single unit.</a:t>
              </a:r>
              <a:endParaRPr sz="12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DD0031"/>
                  </a:solidFill>
                  <a:latin typeface="Roboto"/>
                  <a:ea typeface="Roboto"/>
                  <a:cs typeface="Roboto"/>
                  <a:sym typeface="Roboto"/>
                </a:rPr>
                <a:t>FormArray:</a:t>
              </a:r>
              <a:r>
                <a:rPr lang="en-GB" sz="12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 Handles a dynamic list of form controls.</a:t>
              </a:r>
              <a:endParaRPr sz="12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9" name="Google Shape;159;p18"/>
          <p:cNvSpPr/>
          <p:nvPr/>
        </p:nvSpPr>
        <p:spPr>
          <a:xfrm>
            <a:off x="571500" y="4191000"/>
            <a:ext cx="8001000" cy="476400"/>
          </a:xfrm>
          <a:prstGeom prst="roundRect">
            <a:avLst>
              <a:gd name="adj" fmla="val 8000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762000" y="41910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Highly Scalable • Performance Oriented • Robust Validation • Developer Controlled</a:t>
            </a:r>
            <a:endParaRPr sz="1100" b="0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7143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COMPARISON&gt;</a:t>
            </a:r>
            <a:endParaRPr sz="1200" b="1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Comparison: Template vs. Reactive</a:t>
            </a:r>
            <a:endParaRPr sz="3600" b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168" name="Google Shape;168;p19"/>
          <p:cNvGrpSpPr/>
          <p:nvPr/>
        </p:nvGrpSpPr>
        <p:grpSpPr>
          <a:xfrm>
            <a:off x="571500" y="1905000"/>
            <a:ext cx="3905400" cy="2571750"/>
            <a:chOff x="571500" y="1905000"/>
            <a:chExt cx="3905400" cy="2571750"/>
          </a:xfrm>
        </p:grpSpPr>
        <p:sp>
          <p:nvSpPr>
            <p:cNvPr id="169" name="Google Shape;169;p19"/>
            <p:cNvSpPr/>
            <p:nvPr/>
          </p:nvSpPr>
          <p:spPr>
            <a:xfrm>
              <a:off x="571500" y="1905000"/>
              <a:ext cx="3905400" cy="571500"/>
            </a:xfrm>
            <a:prstGeom prst="roundRect">
              <a:avLst>
                <a:gd name="adj" fmla="val 6666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762000" y="190500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Template-Driven</a:t>
              </a:r>
              <a:endParaRPr sz="1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571500" y="2571750"/>
              <a:ext cx="3905400" cy="571500"/>
            </a:xfrm>
            <a:prstGeom prst="roundRect">
              <a:avLst>
                <a:gd name="adj" fmla="val 6666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762000" y="257175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Easy to use</a:t>
              </a:r>
              <a:endParaRPr sz="14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571500" y="3238500"/>
              <a:ext cx="3905400" cy="571500"/>
            </a:xfrm>
            <a:prstGeom prst="roundRect">
              <a:avLst>
                <a:gd name="adj" fmla="val 6666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762000" y="323850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Asynchronous</a:t>
              </a:r>
              <a:endParaRPr sz="14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571500" y="3905250"/>
              <a:ext cx="3905400" cy="571500"/>
            </a:xfrm>
            <a:prstGeom prst="roundRect">
              <a:avLst>
                <a:gd name="adj" fmla="val 6666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762000" y="390525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Minimal logic in Component</a:t>
              </a:r>
              <a:endParaRPr sz="14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" name="Google Shape;177;p19"/>
          <p:cNvGrpSpPr/>
          <p:nvPr/>
        </p:nvGrpSpPr>
        <p:grpSpPr>
          <a:xfrm>
            <a:off x="4667250" y="1905000"/>
            <a:ext cx="3905400" cy="2571750"/>
            <a:chOff x="4667250" y="1905000"/>
            <a:chExt cx="3905400" cy="2571750"/>
          </a:xfrm>
        </p:grpSpPr>
        <p:sp>
          <p:nvSpPr>
            <p:cNvPr id="178" name="Google Shape;178;p19"/>
            <p:cNvSpPr/>
            <p:nvPr/>
          </p:nvSpPr>
          <p:spPr>
            <a:xfrm>
              <a:off x="4667250" y="1905000"/>
              <a:ext cx="3905400" cy="571500"/>
            </a:xfrm>
            <a:prstGeom prst="roundRect">
              <a:avLst>
                <a:gd name="adj" fmla="val 6666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9"/>
            <p:cNvSpPr txBox="1"/>
            <p:nvPr/>
          </p:nvSpPr>
          <p:spPr>
            <a:xfrm>
              <a:off x="4857750" y="190500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Reactive</a:t>
              </a:r>
              <a:endParaRPr sz="1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4667250" y="2571750"/>
              <a:ext cx="3905400" cy="571500"/>
            </a:xfrm>
            <a:prstGeom prst="roundRect">
              <a:avLst>
                <a:gd name="adj" fmla="val 6666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4857750" y="257175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More powerful &amp; Better for testing</a:t>
              </a:r>
              <a:endParaRPr sz="14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4667250" y="3238500"/>
              <a:ext cx="3905400" cy="571500"/>
            </a:xfrm>
            <a:prstGeom prst="roundRect">
              <a:avLst>
                <a:gd name="adj" fmla="val 6666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4857750" y="323850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Synchronous flow</a:t>
              </a:r>
              <a:endParaRPr sz="14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4667250" y="3905250"/>
              <a:ext cx="3905400" cy="571500"/>
            </a:xfrm>
            <a:prstGeom prst="roundRect">
              <a:avLst>
                <a:gd name="adj" fmla="val 6666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9"/>
            <p:cNvSpPr txBox="1"/>
            <p:nvPr/>
          </p:nvSpPr>
          <p:spPr>
            <a:xfrm>
              <a:off x="4857750" y="390525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Logic lives in Component</a:t>
              </a:r>
              <a:endParaRPr sz="14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7143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COMPARISON&gt;</a:t>
            </a:r>
            <a:endParaRPr sz="1200" b="1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View-to-model</a:t>
            </a:r>
            <a:endParaRPr sz="3600" b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>
            <a:off x="4667250" y="1619230"/>
            <a:ext cx="3905400" cy="3205506"/>
            <a:chOff x="4667250" y="1905000"/>
            <a:chExt cx="3905400" cy="2190900"/>
          </a:xfrm>
        </p:grpSpPr>
        <p:sp>
          <p:nvSpPr>
            <p:cNvPr id="194" name="Google Shape;194;p20"/>
            <p:cNvSpPr/>
            <p:nvPr/>
          </p:nvSpPr>
          <p:spPr>
            <a:xfrm>
              <a:off x="4667250" y="1905000"/>
              <a:ext cx="3905400" cy="2190900"/>
            </a:xfrm>
            <a:prstGeom prst="roundRect">
              <a:avLst>
                <a:gd name="adj" fmla="val 347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4857750" y="209550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Reactive</a:t>
              </a:r>
              <a:endParaRPr sz="1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485775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7" name="Google Shape;197;p20"/>
          <p:cNvGrpSpPr/>
          <p:nvPr/>
        </p:nvGrpSpPr>
        <p:grpSpPr>
          <a:xfrm>
            <a:off x="571500" y="1619114"/>
            <a:ext cx="3905400" cy="3205506"/>
            <a:chOff x="571500" y="1905000"/>
            <a:chExt cx="3905400" cy="2190900"/>
          </a:xfrm>
        </p:grpSpPr>
        <p:sp>
          <p:nvSpPr>
            <p:cNvPr id="198" name="Google Shape;198;p20"/>
            <p:cNvSpPr/>
            <p:nvPr/>
          </p:nvSpPr>
          <p:spPr>
            <a:xfrm>
              <a:off x="571500" y="1905000"/>
              <a:ext cx="3905400" cy="2190900"/>
            </a:xfrm>
            <a:prstGeom prst="roundRect">
              <a:avLst>
                <a:gd name="adj" fmla="val 347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762000" y="209550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Template-Driven</a:t>
              </a:r>
              <a:endParaRPr sz="1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76200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01" name="Google Shape;2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874" y="2362524"/>
            <a:ext cx="3548650" cy="24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7250" y="2828375"/>
            <a:ext cx="3905400" cy="153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7143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COMPARISON&gt;</a:t>
            </a:r>
            <a:endParaRPr sz="1200" b="1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Model-to-View</a:t>
            </a:r>
            <a:endParaRPr sz="3600" b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210" name="Google Shape;210;p21"/>
          <p:cNvGrpSpPr/>
          <p:nvPr/>
        </p:nvGrpSpPr>
        <p:grpSpPr>
          <a:xfrm>
            <a:off x="571500" y="1666734"/>
            <a:ext cx="3905400" cy="3348411"/>
            <a:chOff x="571500" y="1904961"/>
            <a:chExt cx="3905400" cy="2190939"/>
          </a:xfrm>
        </p:grpSpPr>
        <p:sp>
          <p:nvSpPr>
            <p:cNvPr id="211" name="Google Shape;211;p21"/>
            <p:cNvSpPr/>
            <p:nvPr/>
          </p:nvSpPr>
          <p:spPr>
            <a:xfrm>
              <a:off x="571500" y="1905000"/>
              <a:ext cx="3905400" cy="2190900"/>
            </a:xfrm>
            <a:prstGeom prst="roundRect">
              <a:avLst>
                <a:gd name="adj" fmla="val 347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762000" y="1904961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Template-Driven</a:t>
              </a:r>
              <a:endParaRPr sz="1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76200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4" name="Google Shape;214;p21"/>
          <p:cNvGrpSpPr/>
          <p:nvPr/>
        </p:nvGrpSpPr>
        <p:grpSpPr>
          <a:xfrm>
            <a:off x="4667250" y="1619187"/>
            <a:ext cx="3905400" cy="3395676"/>
            <a:chOff x="4667250" y="1905000"/>
            <a:chExt cx="3905400" cy="2190900"/>
          </a:xfrm>
        </p:grpSpPr>
        <p:sp>
          <p:nvSpPr>
            <p:cNvPr id="215" name="Google Shape;215;p21"/>
            <p:cNvSpPr/>
            <p:nvPr/>
          </p:nvSpPr>
          <p:spPr>
            <a:xfrm>
              <a:off x="4667250" y="1905000"/>
              <a:ext cx="3905400" cy="2190900"/>
            </a:xfrm>
            <a:prstGeom prst="roundRect">
              <a:avLst>
                <a:gd name="adj" fmla="val 347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1"/>
            <p:cNvSpPr txBox="1"/>
            <p:nvPr/>
          </p:nvSpPr>
          <p:spPr>
            <a:xfrm>
              <a:off x="4857750" y="1935715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Reactive</a:t>
              </a:r>
              <a:endParaRPr sz="1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" name="Google Shape;217;p21"/>
            <p:cNvSpPr txBox="1"/>
            <p:nvPr/>
          </p:nvSpPr>
          <p:spPr>
            <a:xfrm>
              <a:off x="485775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18" name="Google Shape;2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6263" y="2327650"/>
            <a:ext cx="3287376" cy="24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499" y="2145675"/>
            <a:ext cx="3575411" cy="280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7143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VALIDATION&gt;</a:t>
            </a:r>
            <a:endParaRPr sz="1200" b="1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Validation Demo</a:t>
            </a:r>
            <a:endParaRPr sz="3600" b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571500" y="1905000"/>
            <a:ext cx="3905400" cy="2190900"/>
          </a:xfrm>
          <a:prstGeom prst="roundRect">
            <a:avLst>
              <a:gd name="adj" fmla="val 347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762000" y="2047875"/>
            <a:ext cx="35244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Built-in Validators</a:t>
            </a:r>
            <a:endParaRPr sz="15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762000" y="2428875"/>
            <a:ext cx="3524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DD0031"/>
                </a:solidFill>
                <a:latin typeface="Roboto"/>
                <a:ea typeface="Roboto"/>
                <a:cs typeface="Roboto"/>
                <a:sym typeface="Roboto"/>
              </a:rPr>
              <a:t>Validators.required</a:t>
            </a:r>
            <a:br>
              <a:rPr lang="en-GB" sz="12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2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Ensures the form control has a non-empty value.</a:t>
            </a:r>
            <a:endParaRPr sz="1200" b="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DD0031"/>
                </a:solidFill>
                <a:latin typeface="Roboto"/>
                <a:ea typeface="Roboto"/>
                <a:cs typeface="Roboto"/>
                <a:sym typeface="Roboto"/>
              </a:rPr>
              <a:t>Validators.email</a:t>
            </a:r>
            <a:br>
              <a:rPr lang="en-GB" sz="12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2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Checks if the value matches a proper email format.</a:t>
            </a:r>
            <a:endParaRPr sz="1200" b="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DD0031"/>
                </a:solidFill>
                <a:latin typeface="Roboto"/>
                <a:ea typeface="Roboto"/>
                <a:cs typeface="Roboto"/>
                <a:sym typeface="Roboto"/>
              </a:rPr>
              <a:t>Validators.minLength(n)</a:t>
            </a:r>
            <a:br>
              <a:rPr lang="en-GB" sz="12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2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Sets a minimum character threshold.</a:t>
            </a:r>
            <a:endParaRPr sz="1200" b="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4667250" y="1905000"/>
            <a:ext cx="3905400" cy="2190900"/>
          </a:xfrm>
          <a:prstGeom prst="roundRect">
            <a:avLst>
              <a:gd name="adj" fmla="val 3478"/>
            </a:avLst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4667250" y="1905000"/>
            <a:ext cx="3905400" cy="285900"/>
          </a:xfrm>
          <a:prstGeom prst="roundRect">
            <a:avLst>
              <a:gd name="adj" fmla="val 26666"/>
            </a:avLst>
          </a:prstGeom>
          <a:solidFill>
            <a:srgbClr val="22222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4819650" y="2009775"/>
            <a:ext cx="76200" cy="76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4962525" y="2009775"/>
            <a:ext cx="76200" cy="76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105400" y="2009775"/>
            <a:ext cx="76200" cy="76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4857750" y="2286000"/>
            <a:ext cx="352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777777"/>
                </a:solidFill>
                <a:latin typeface="Roboto Mono"/>
                <a:ea typeface="Roboto Mono"/>
                <a:cs typeface="Roboto Mono"/>
                <a:sym typeface="Roboto Mono"/>
              </a:rPr>
              <a:t>// TypeScript Validation Example</a:t>
            </a:r>
            <a:endParaRPr sz="1100">
              <a:solidFill>
                <a:srgbClr val="77777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0E0E0"/>
                </a:solidFill>
                <a:latin typeface="Roboto Mono"/>
                <a:ea typeface="Roboto Mono"/>
                <a:cs typeface="Roboto Mono"/>
                <a:sym typeface="Roboto Mono"/>
              </a:rPr>
              <a:t>this.userForm = new FormGroup({</a:t>
            </a:r>
            <a:endParaRPr sz="1100">
              <a:solidFill>
                <a:srgbClr val="E0E0E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42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0E0E0"/>
                </a:solidFill>
                <a:latin typeface="Roboto Mono"/>
                <a:ea typeface="Roboto Mono"/>
                <a:cs typeface="Roboto Mono"/>
                <a:sym typeface="Roboto Mono"/>
              </a:rPr>
              <a:t>email: new FormControl('', [</a:t>
            </a:r>
            <a:endParaRPr sz="1100">
              <a:solidFill>
                <a:srgbClr val="E0E0E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857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Validators.required,</a:t>
            </a:r>
            <a:endParaRPr sz="1100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857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Validators.email</a:t>
            </a:r>
            <a:endParaRPr sz="1100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42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0E0E0"/>
                </a:solidFill>
                <a:latin typeface="Roboto Mono"/>
                <a:ea typeface="Roboto Mono"/>
                <a:cs typeface="Roboto Mono"/>
                <a:sym typeface="Roboto Mono"/>
              </a:rPr>
              <a:t>]),</a:t>
            </a:r>
            <a:endParaRPr sz="1100">
              <a:solidFill>
                <a:srgbClr val="E0E0E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42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0E0E0"/>
                </a:solidFill>
                <a:latin typeface="Roboto Mono"/>
                <a:ea typeface="Roboto Mono"/>
                <a:cs typeface="Roboto Mono"/>
                <a:sym typeface="Roboto Mono"/>
              </a:rPr>
              <a:t>password: new FormControl('', [</a:t>
            </a:r>
            <a:endParaRPr sz="1100">
              <a:solidFill>
                <a:srgbClr val="E0E0E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857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Validators.required</a:t>
            </a:r>
            <a:endParaRPr sz="1100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42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0E0E0"/>
                </a:solidFill>
                <a:latin typeface="Roboto Mono"/>
                <a:ea typeface="Roboto Mono"/>
                <a:cs typeface="Roboto Mono"/>
                <a:sym typeface="Roboto Mono"/>
              </a:rPr>
              <a:t>])</a:t>
            </a:r>
            <a:endParaRPr sz="1100">
              <a:solidFill>
                <a:srgbClr val="E0E0E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0E0E0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100">
              <a:solidFill>
                <a:srgbClr val="E0E0E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71500" y="4286250"/>
            <a:ext cx="8001000" cy="381000"/>
          </a:xfrm>
          <a:prstGeom prst="roundRect">
            <a:avLst>
              <a:gd name="adj" fmla="val 10000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762000" y="42862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Reactive Validation • Sync Flow • Reusable Logic • Flexible</a:t>
            </a:r>
            <a:endParaRPr sz="1200" b="1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571500" y="7143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DEPLOYMENT&gt;</a:t>
            </a:r>
            <a:endParaRPr sz="1200" b="1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Deployment</a:t>
            </a:r>
            <a:r>
              <a:rPr lang="en-GB"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 Demo</a:t>
            </a:r>
            <a:endParaRPr sz="3600" b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71500" y="4286250"/>
            <a:ext cx="8001000" cy="381000"/>
          </a:xfrm>
          <a:prstGeom prst="roundRect">
            <a:avLst>
              <a:gd name="adj" fmla="val 10000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0" name="Google Shape;25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571500" y="714375"/>
            <a:ext cx="3333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DECISION GUIDE&gt;</a:t>
            </a:r>
            <a:endParaRPr sz="1200" b="1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When to Use Which?</a:t>
            </a:r>
            <a:endParaRPr sz="3600" b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254" name="Google Shape;254;p24"/>
          <p:cNvGrpSpPr/>
          <p:nvPr/>
        </p:nvGrpSpPr>
        <p:grpSpPr>
          <a:xfrm>
            <a:off x="571500" y="1905000"/>
            <a:ext cx="3905400" cy="2190900"/>
            <a:chOff x="571500" y="1905000"/>
            <a:chExt cx="3905400" cy="2190900"/>
          </a:xfrm>
        </p:grpSpPr>
        <p:sp>
          <p:nvSpPr>
            <p:cNvPr id="255" name="Google Shape;255;p24"/>
            <p:cNvSpPr/>
            <p:nvPr/>
          </p:nvSpPr>
          <p:spPr>
            <a:xfrm>
              <a:off x="571500" y="1905000"/>
              <a:ext cx="3905400" cy="2190900"/>
            </a:xfrm>
            <a:prstGeom prst="roundRect">
              <a:avLst>
                <a:gd name="adj" fmla="val 347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4"/>
            <p:cNvSpPr txBox="1"/>
            <p:nvPr/>
          </p:nvSpPr>
          <p:spPr>
            <a:xfrm>
              <a:off x="762000" y="209550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Template-Driven</a:t>
              </a:r>
              <a:endParaRPr sz="1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" name="Google Shape;257;p24"/>
            <p:cNvSpPr txBox="1"/>
            <p:nvPr/>
          </p:nvSpPr>
          <p:spPr>
            <a:xfrm>
              <a:off x="76200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Ideal for small, simple forms.</a:t>
              </a:r>
              <a:endParaRPr sz="13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3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Best for quick prototypes.</a:t>
              </a:r>
              <a:endParaRPr sz="13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3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Minimal component logic required.</a:t>
              </a:r>
              <a:endParaRPr sz="13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8" name="Google Shape;258;p24"/>
          <p:cNvGrpSpPr/>
          <p:nvPr/>
        </p:nvGrpSpPr>
        <p:grpSpPr>
          <a:xfrm>
            <a:off x="4667250" y="1905000"/>
            <a:ext cx="3905400" cy="2190900"/>
            <a:chOff x="4667250" y="1905000"/>
            <a:chExt cx="3905400" cy="2190900"/>
          </a:xfrm>
        </p:grpSpPr>
        <p:sp>
          <p:nvSpPr>
            <p:cNvPr id="259" name="Google Shape;259;p24"/>
            <p:cNvSpPr/>
            <p:nvPr/>
          </p:nvSpPr>
          <p:spPr>
            <a:xfrm>
              <a:off x="4667250" y="1905000"/>
              <a:ext cx="3905400" cy="2190900"/>
            </a:xfrm>
            <a:prstGeom prst="roundRect">
              <a:avLst>
                <a:gd name="adj" fmla="val 347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4"/>
            <p:cNvSpPr txBox="1"/>
            <p:nvPr/>
          </p:nvSpPr>
          <p:spPr>
            <a:xfrm>
              <a:off x="4857750" y="209550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Reactive</a:t>
              </a:r>
              <a:endParaRPr sz="1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1" name="Google Shape;261;p24"/>
            <p:cNvSpPr txBox="1"/>
            <p:nvPr/>
          </p:nvSpPr>
          <p:spPr>
            <a:xfrm>
              <a:off x="485775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Handles complex business logic.</a:t>
              </a:r>
              <a:endParaRPr sz="13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3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Essential for dynamic field generation.</a:t>
              </a:r>
              <a:endParaRPr sz="13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300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Superior support for unit testing.</a:t>
              </a:r>
              <a:endParaRPr sz="130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2" name="Google Shape;262;p24"/>
          <p:cNvSpPr/>
          <p:nvPr/>
        </p:nvSpPr>
        <p:spPr>
          <a:xfrm>
            <a:off x="571500" y="4286250"/>
            <a:ext cx="8001000" cy="428700"/>
          </a:xfrm>
          <a:prstGeom prst="roundRect">
            <a:avLst>
              <a:gd name="adj" fmla="val 8888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762000" y="428625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Simple Prototypes vs. Enterprise Scalability</a:t>
            </a:r>
            <a:endParaRPr sz="1200" b="1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8" name="Google Shape;268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269" name="Google Shape;269;p25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571500" y="71437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USE CASES&gt;</a:t>
            </a:r>
            <a:endParaRPr sz="1200" b="1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Real-World Scenarios</a:t>
            </a:r>
            <a:endParaRPr sz="3600" b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272" name="Google Shape;272;p25"/>
          <p:cNvGrpSpPr/>
          <p:nvPr/>
        </p:nvGrpSpPr>
        <p:grpSpPr>
          <a:xfrm>
            <a:off x="571500" y="1905000"/>
            <a:ext cx="3905400" cy="2190900"/>
            <a:chOff x="571500" y="1905000"/>
            <a:chExt cx="3905400" cy="2190900"/>
          </a:xfrm>
        </p:grpSpPr>
        <p:sp>
          <p:nvSpPr>
            <p:cNvPr id="273" name="Google Shape;273;p25"/>
            <p:cNvSpPr/>
            <p:nvPr/>
          </p:nvSpPr>
          <p:spPr>
            <a:xfrm>
              <a:off x="571500" y="1905000"/>
              <a:ext cx="3905400" cy="2190900"/>
            </a:xfrm>
            <a:prstGeom prst="roundRect">
              <a:avLst>
                <a:gd name="adj" fmla="val 347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5"/>
            <p:cNvSpPr txBox="1"/>
            <p:nvPr/>
          </p:nvSpPr>
          <p:spPr>
            <a:xfrm>
              <a:off x="762000" y="209550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Simple Feedback Form</a:t>
              </a:r>
              <a:endParaRPr sz="1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5" name="Google Shape;275;p25"/>
            <p:cNvSpPr txBox="1"/>
            <p:nvPr/>
          </p:nvSpPr>
          <p:spPr>
            <a:xfrm>
              <a:off x="76200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3" b="1">
                  <a:solidFill>
                    <a:srgbClr val="DD0031"/>
                  </a:solidFill>
                  <a:latin typeface="Roboto"/>
                  <a:ea typeface="Roboto"/>
                  <a:cs typeface="Roboto"/>
                  <a:sym typeface="Roboto"/>
                </a:rPr>
                <a:t>Template-Driven approach</a:t>
              </a:r>
              <a:endParaRPr sz="1203" b="1">
                <a:solidFill>
                  <a:srgbClr val="DD003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203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Static fields: Name, Email, Comment.</a:t>
              </a:r>
              <a:endParaRPr sz="1203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203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Logic: "Send as-is" to an API.</a:t>
              </a:r>
              <a:endParaRPr sz="1203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203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No complex cross-field validation or dynamic changes needed.</a:t>
              </a:r>
              <a:endParaRPr sz="1203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6" name="Google Shape;276;p25"/>
          <p:cNvGrpSpPr/>
          <p:nvPr/>
        </p:nvGrpSpPr>
        <p:grpSpPr>
          <a:xfrm>
            <a:off x="4667250" y="1905000"/>
            <a:ext cx="3905400" cy="2190900"/>
            <a:chOff x="4667250" y="1905000"/>
            <a:chExt cx="3905400" cy="2190900"/>
          </a:xfrm>
        </p:grpSpPr>
        <p:sp>
          <p:nvSpPr>
            <p:cNvPr id="277" name="Google Shape;277;p25"/>
            <p:cNvSpPr/>
            <p:nvPr/>
          </p:nvSpPr>
          <p:spPr>
            <a:xfrm>
              <a:off x="4667250" y="1905000"/>
              <a:ext cx="3905400" cy="2190900"/>
            </a:xfrm>
            <a:prstGeom prst="roundRect">
              <a:avLst>
                <a:gd name="adj" fmla="val 347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5"/>
            <p:cNvSpPr txBox="1"/>
            <p:nvPr/>
          </p:nvSpPr>
          <p:spPr>
            <a:xfrm>
              <a:off x="4857750" y="209550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User Registration Hub</a:t>
              </a:r>
              <a:endParaRPr sz="1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9" name="Google Shape;279;p25"/>
            <p:cNvSpPr txBox="1"/>
            <p:nvPr/>
          </p:nvSpPr>
          <p:spPr>
            <a:xfrm>
              <a:off x="485775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3" b="1">
                  <a:solidFill>
                    <a:srgbClr val="10B981"/>
                  </a:solidFill>
                  <a:latin typeface="Roboto"/>
                  <a:ea typeface="Roboto"/>
                  <a:cs typeface="Roboto"/>
                  <a:sym typeface="Roboto"/>
                </a:rPr>
                <a:t>Reactive Forms approach</a:t>
              </a:r>
              <a:endParaRPr sz="1203" b="1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203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lang="en-GB" sz="1203" b="1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Password Strength:</a:t>
              </a:r>
              <a:r>
                <a:rPr lang="en-GB" sz="1203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 Real-time regex validation.</a:t>
              </a:r>
              <a:endParaRPr sz="1203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203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lang="en-GB" sz="1203" b="1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Email Check:</a:t>
              </a:r>
              <a:r>
                <a:rPr lang="en-GB" sz="1203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 Async validator for availability.</a:t>
              </a:r>
              <a:endParaRPr sz="1203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203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lang="en-GB" sz="1203" b="1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Dynamic UI:</a:t>
              </a:r>
              <a:r>
                <a:rPr lang="en-GB" sz="1203" b="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 Conditional fields based on user role.</a:t>
              </a:r>
              <a:endParaRPr sz="1203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80" name="Google Shape;280;p25"/>
          <p:cNvSpPr/>
          <p:nvPr/>
        </p:nvSpPr>
        <p:spPr>
          <a:xfrm>
            <a:off x="571500" y="4286250"/>
            <a:ext cx="8001000" cy="428700"/>
          </a:xfrm>
          <a:prstGeom prst="roundRect">
            <a:avLst>
              <a:gd name="adj" fmla="val 8888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762000" y="428625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Choose based on complexity: One-way data vs. High-fidelity interactions</a:t>
            </a:r>
            <a:endParaRPr sz="1200" b="1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6" name="Google Shape;28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287" name="Google Shape;287;p26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571500" y="71437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SUMMARY&gt;</a:t>
            </a:r>
            <a:endParaRPr sz="1200" b="1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9" name="Google Shape;289;p26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Conclusion &amp; Key Takeaways</a:t>
            </a:r>
            <a:endParaRPr sz="3600" b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571500" y="1905000"/>
            <a:ext cx="3905400" cy="2190900"/>
          </a:xfrm>
          <a:prstGeom prst="roundRect">
            <a:avLst>
              <a:gd name="adj" fmla="val 347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762000" y="2095500"/>
            <a:ext cx="352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3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Right Tool</a:t>
            </a:r>
            <a:endParaRPr sz="153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6"/>
          <p:cNvSpPr txBox="1"/>
          <p:nvPr/>
        </p:nvSpPr>
        <p:spPr>
          <a:xfrm>
            <a:off x="762000" y="2571750"/>
            <a:ext cx="35244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9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GB" sz="1190" b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Template-Driven:</a:t>
            </a:r>
            <a:r>
              <a:rPr lang="en-GB" sz="119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Choose for speed, small-scale forms, and simplicity.</a:t>
            </a:r>
            <a:endParaRPr sz="1190" b="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19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GB" sz="1190" b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Reactive:</a:t>
            </a:r>
            <a:r>
              <a:rPr lang="en-GB" sz="119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Choose for power, predictability, and complex business logic.</a:t>
            </a:r>
            <a:endParaRPr sz="1190" b="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19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GB" sz="1190" b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Angular:</a:t>
            </a:r>
            <a:r>
              <a:rPr lang="en-GB" sz="119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Provides robust, first-class tools for both development patterns.</a:t>
            </a:r>
            <a:endParaRPr sz="1190" b="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4667250" y="1905000"/>
            <a:ext cx="3905400" cy="2190900"/>
          </a:xfrm>
          <a:prstGeom prst="roundRect">
            <a:avLst>
              <a:gd name="adj" fmla="val 347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4857750" y="2095500"/>
            <a:ext cx="352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3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Final Verdict</a:t>
            </a:r>
            <a:endParaRPr sz="153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26"/>
          <p:cNvSpPr txBox="1"/>
          <p:nvPr/>
        </p:nvSpPr>
        <p:spPr>
          <a:xfrm>
            <a:off x="4857750" y="2571750"/>
            <a:ext cx="35244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30" b="0" i="1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rPr>
              <a:t>"Don't build a skyscraper with a hammer, and don't drive a nail with a crane."</a:t>
            </a:r>
            <a:endParaRPr sz="1530" b="0" i="1">
              <a:solidFill>
                <a:srgbClr val="10B98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19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Choose based on the </a:t>
            </a:r>
            <a:r>
              <a:rPr lang="en-GB" sz="1190" b="1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complexity</a:t>
            </a:r>
            <a:r>
              <a:rPr lang="en-GB" sz="1190" b="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of your requirements.</a:t>
            </a:r>
            <a:endParaRPr sz="1190" b="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71500" y="4286250"/>
            <a:ext cx="8001000" cy="476400"/>
          </a:xfrm>
          <a:prstGeom prst="roundRect">
            <a:avLst>
              <a:gd name="adj" fmla="val 8000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762000" y="428625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90" b="1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Empowering Developers to Build Better Forms</a:t>
            </a:r>
            <a:endParaRPr sz="1190" b="1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2" name="Google Shape;30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571500" y="71437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FINISH&gt;</a:t>
            </a:r>
            <a:endParaRPr sz="1200" b="1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5" name="Google Shape;305;p27"/>
          <p:cNvSpPr txBox="1"/>
          <p:nvPr/>
        </p:nvSpPr>
        <p:spPr>
          <a:xfrm>
            <a:off x="571500" y="2309888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Thank You &amp; Q&amp;A</a:t>
            </a:r>
            <a:endParaRPr sz="3600" b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571500" y="4191000"/>
            <a:ext cx="8001000" cy="476400"/>
          </a:xfrm>
          <a:prstGeom prst="roundRect">
            <a:avLst>
              <a:gd name="adj" fmla="val 8000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762000" y="41910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Questions? Let's discuss building better forms together.</a:t>
            </a:r>
            <a:endParaRPr sz="1200" b="1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</Words>
  <Application>Microsoft Office PowerPoint</Application>
  <PresentationFormat>On-screen Show (16:9)</PresentationFormat>
  <Paragraphs>131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Roboto Mono</vt:lpstr>
      <vt:lpstr>Roboto Black</vt:lpstr>
      <vt:lpstr>Roboto Light</vt:lpstr>
      <vt:lpstr>Material Icons</vt:lpstr>
      <vt:lpstr>Arial</vt:lpstr>
      <vt:lpstr>Roboto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EXI-P, Srujan</cp:lastModifiedBy>
  <cp:revision>1</cp:revision>
  <dcterms:modified xsi:type="dcterms:W3CDTF">2026-04-17T09:32:32Z</dcterms:modified>
</cp:coreProperties>
</file>